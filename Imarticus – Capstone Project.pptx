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2" r:id="rId4"/>
    <p:sldId id="263" r:id="rId5"/>
    <p:sldId id="264" r:id="rId6"/>
    <p:sldId id="265" r:id="rId7"/>
    <p:sldId id="261"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7/15/2026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7/15/2026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7/15/2026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7/15/2026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7/15/2026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7/15/2026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u="sng" dirty="0" smtClean="0"/>
              <a:t>Imarticus – Capstone Project</a:t>
            </a:r>
            <a:endParaRPr lang="en-US" sz="3600" dirty="0"/>
          </a:p>
        </p:txBody>
      </p:sp>
      <p:sp>
        <p:nvSpPr>
          <p:cNvPr id="3" name="Subtitle 2"/>
          <p:cNvSpPr>
            <a:spLocks noGrp="1"/>
          </p:cNvSpPr>
          <p:nvPr>
            <p:ph type="subTitle" idx="1"/>
          </p:nvPr>
        </p:nvSpPr>
        <p:spPr/>
        <p:txBody>
          <a:bodyPr>
            <a:normAutofit/>
          </a:bodyPr>
          <a:lstStyle/>
          <a:p>
            <a:pPr algn="ctr"/>
            <a:r>
              <a:rPr lang="en-US" sz="2400" b="1" dirty="0">
                <a:solidFill>
                  <a:schemeClr val="accent2"/>
                </a:solidFill>
              </a:rPr>
              <a:t>Credit Card Fraud Detection using Logistic Regression</a:t>
            </a:r>
          </a:p>
        </p:txBody>
      </p:sp>
    </p:spTree>
    <p:extLst>
      <p:ext uri="{BB962C8B-B14F-4D97-AF65-F5344CB8AC3E}">
        <p14:creationId xmlns:p14="http://schemas.microsoft.com/office/powerpoint/2010/main" val="447386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3395662" y="3381375"/>
            <a:ext cx="5400675" cy="2381250"/>
          </a:xfrm>
          <a:prstGeom prst="rect">
            <a:avLst/>
          </a:prstGeom>
        </p:spPr>
      </p:pic>
      <p:sp>
        <p:nvSpPr>
          <p:cNvPr id="9" name="Rectangle 8"/>
          <p:cNvSpPr/>
          <p:nvPr/>
        </p:nvSpPr>
        <p:spPr>
          <a:xfrm>
            <a:off x="704850" y="539234"/>
            <a:ext cx="4343400" cy="584775"/>
          </a:xfrm>
          <a:prstGeom prst="rect">
            <a:avLst/>
          </a:prstGeom>
        </p:spPr>
        <p:txBody>
          <a:bodyPr wrap="square">
            <a:spAutoFit/>
          </a:bodyPr>
          <a:lstStyle/>
          <a:p>
            <a:r>
              <a:rPr lang="en-US" sz="3200" b="1" dirty="0">
                <a:solidFill>
                  <a:schemeClr val="accent2"/>
                </a:solidFill>
              </a:rPr>
              <a:t>Project Overview</a:t>
            </a:r>
          </a:p>
        </p:txBody>
      </p:sp>
      <p:sp>
        <p:nvSpPr>
          <p:cNvPr id="10" name="Rectangle 4"/>
          <p:cNvSpPr>
            <a:spLocks noChangeArrowheads="1"/>
          </p:cNvSpPr>
          <p:nvPr/>
        </p:nvSpPr>
        <p:spPr bwMode="auto">
          <a:xfrm>
            <a:off x="533400" y="1340019"/>
            <a:ext cx="6952544"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accent2"/>
                </a:solidFill>
                <a:effectLst/>
                <a:latin typeface="Arial" panose="020B0604020202020204" pitchFamily="34" charset="0"/>
              </a:rPr>
              <a:t>Objective:</a:t>
            </a:r>
            <a:r>
              <a:rPr kumimoji="0" lang="en-US" altLang="en-US" sz="2000" b="0" i="0" u="none" strike="noStrike" cap="none" normalizeH="0" baseline="0" dirty="0" smtClean="0">
                <a:ln>
                  <a:noFill/>
                </a:ln>
                <a:solidFill>
                  <a:schemeClr val="accent2"/>
                </a:solidFill>
                <a:effectLst/>
                <a:latin typeface="Arial" panose="020B0604020202020204" pitchFamily="34" charset="0"/>
              </a:rPr>
              <a:t> </a:t>
            </a:r>
            <a:r>
              <a:rPr kumimoji="0" lang="en-US" altLang="en-US" sz="2000" b="0" i="0" u="none" strike="noStrike" cap="none" normalizeH="0" baseline="0" dirty="0" smtClean="0">
                <a:ln>
                  <a:noFill/>
                </a:ln>
                <a:solidFill>
                  <a:schemeClr val="tx1"/>
                </a:solidFill>
                <a:effectLst/>
                <a:latin typeface="Arial" panose="020B0604020202020204" pitchFamily="34" charset="0"/>
              </a:rPr>
              <a:t>Classify transactions as fraudulent or legitimate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accent2"/>
                </a:solidFill>
                <a:effectLst/>
                <a:latin typeface="Arial" panose="020B0604020202020204" pitchFamily="34" charset="0"/>
              </a:rPr>
              <a:t>Model Used:</a:t>
            </a:r>
            <a:r>
              <a:rPr kumimoji="0" lang="en-US" altLang="en-US" sz="2000" b="0" i="0" u="none" strike="noStrike" cap="none" normalizeH="0" baseline="0" dirty="0" smtClean="0">
                <a:ln>
                  <a:noFill/>
                </a:ln>
                <a:solidFill>
                  <a:schemeClr val="accent2"/>
                </a:solidFill>
                <a:effectLst/>
                <a:latin typeface="Arial" panose="020B0604020202020204" pitchFamily="34" charset="0"/>
              </a:rPr>
              <a:t> </a:t>
            </a:r>
            <a:r>
              <a:rPr kumimoji="0" lang="en-US" altLang="en-US" sz="2000" b="0" i="0" u="none" strike="noStrike" cap="none" normalizeH="0" baseline="0" dirty="0" smtClean="0">
                <a:ln>
                  <a:noFill/>
                </a:ln>
                <a:solidFill>
                  <a:schemeClr val="tx1"/>
                </a:solidFill>
                <a:effectLst/>
                <a:latin typeface="Arial" panose="020B0604020202020204" pitchFamily="34" charset="0"/>
              </a:rPr>
              <a:t>Logistic Regression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accent2"/>
                </a:solidFill>
                <a:effectLst/>
                <a:latin typeface="Arial" panose="020B0604020202020204" pitchFamily="34" charset="0"/>
              </a:rPr>
              <a:t>Goal:</a:t>
            </a:r>
            <a:r>
              <a:rPr kumimoji="0" lang="en-US" altLang="en-US" sz="2000" b="0" i="0" u="none" strike="noStrike" cap="none" normalizeH="0" baseline="0" dirty="0" smtClean="0">
                <a:ln>
                  <a:noFill/>
                </a:ln>
                <a:solidFill>
                  <a:schemeClr val="accent2"/>
                </a:solidFill>
                <a:effectLst/>
                <a:latin typeface="Arial" panose="020B0604020202020204" pitchFamily="34" charset="0"/>
              </a:rPr>
              <a:t> </a:t>
            </a:r>
            <a:r>
              <a:rPr kumimoji="0" lang="en-US" altLang="en-US" sz="2000" b="0" i="0" u="none" strike="noStrike" cap="none" normalizeH="0" baseline="0" dirty="0" smtClean="0">
                <a:ln>
                  <a:noFill/>
                </a:ln>
                <a:solidFill>
                  <a:schemeClr val="tx1"/>
                </a:solidFill>
                <a:effectLst/>
                <a:latin typeface="Arial" panose="020B0604020202020204" pitchFamily="34" charset="0"/>
              </a:rPr>
              <a:t>Establish a strong baseline for fraud detection</a:t>
            </a:r>
          </a:p>
        </p:txBody>
      </p:sp>
    </p:spTree>
    <p:extLst>
      <p:ext uri="{BB962C8B-B14F-4D97-AF65-F5344CB8AC3E}">
        <p14:creationId xmlns:p14="http://schemas.microsoft.com/office/powerpoint/2010/main" val="1942018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590550" y="1263819"/>
            <a:ext cx="7244291"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accent2"/>
                </a:solidFill>
                <a:effectLst/>
                <a:latin typeface="Arial" panose="020B0604020202020204" pitchFamily="34" charset="0"/>
              </a:rPr>
              <a:t>Dataset: </a:t>
            </a:r>
            <a:r>
              <a:rPr kumimoji="0" lang="en-US" altLang="en-US" sz="2000" b="0" i="0" u="none" strike="noStrike" cap="none" normalizeH="0" baseline="0" dirty="0" smtClean="0">
                <a:ln>
                  <a:noFill/>
                </a:ln>
                <a:solidFill>
                  <a:schemeClr val="tx1"/>
                </a:solidFill>
                <a:effectLst/>
                <a:latin typeface="Arial" panose="020B0604020202020204" pitchFamily="34" charset="0"/>
              </a:rPr>
              <a:t>Highly imbalanced (fraud vs. legitimate)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accent2"/>
                </a:solidFill>
                <a:effectLst/>
                <a:latin typeface="Arial" panose="020B0604020202020204" pitchFamily="34" charset="0"/>
              </a:rPr>
              <a:t>Steps</a:t>
            </a:r>
            <a:r>
              <a:rPr kumimoji="0" lang="en-US" altLang="en-US" sz="2000" b="0" i="0" u="none" strike="noStrike" cap="none" normalizeH="0" baseline="0" dirty="0" smtClean="0">
                <a:ln>
                  <a:noFill/>
                </a:ln>
                <a:solidFill>
                  <a:schemeClr val="tx1"/>
                </a:solidFill>
                <a:effectLst/>
                <a:latin typeface="Arial" panose="020B0604020202020204" pitchFamily="34" charset="0"/>
              </a:rPr>
              <a:t>: Missing value check, correlation analysis, visualization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accent2"/>
                </a:solidFill>
                <a:effectLst/>
                <a:latin typeface="Arial" panose="020B0604020202020204" pitchFamily="34" charset="0"/>
              </a:rPr>
              <a:t>Insights</a:t>
            </a:r>
            <a:r>
              <a:rPr kumimoji="0" lang="en-US" altLang="en-US" sz="2000" b="0" i="0" u="none" strike="noStrike" cap="none" normalizeH="0" baseline="0" dirty="0" smtClean="0">
                <a:ln>
                  <a:noFill/>
                </a:ln>
                <a:solidFill>
                  <a:schemeClr val="tx1"/>
                </a:solidFill>
                <a:effectLst/>
                <a:latin typeface="Arial" panose="020B0604020202020204" pitchFamily="34" charset="0"/>
              </a:rPr>
              <a:t>: Fraud cases &lt;1% of total transactions</a:t>
            </a:r>
          </a:p>
        </p:txBody>
      </p:sp>
      <p:sp>
        <p:nvSpPr>
          <p:cNvPr id="4" name="Rectangle 3"/>
          <p:cNvSpPr/>
          <p:nvPr/>
        </p:nvSpPr>
        <p:spPr>
          <a:xfrm>
            <a:off x="704850" y="596384"/>
            <a:ext cx="4420245" cy="584775"/>
          </a:xfrm>
          <a:prstGeom prst="rect">
            <a:avLst/>
          </a:prstGeom>
        </p:spPr>
        <p:txBody>
          <a:bodyPr wrap="square">
            <a:spAutoFit/>
          </a:bodyPr>
          <a:lstStyle/>
          <a:p>
            <a:r>
              <a:rPr lang="en-US" sz="3200" b="1" dirty="0">
                <a:solidFill>
                  <a:schemeClr val="accent2"/>
                </a:solidFill>
              </a:rPr>
              <a:t>Data Exploration</a:t>
            </a:r>
          </a:p>
        </p:txBody>
      </p:sp>
      <p:pic>
        <p:nvPicPr>
          <p:cNvPr id="5" name="Picture 4"/>
          <p:cNvPicPr>
            <a:picLocks noChangeAspect="1"/>
          </p:cNvPicPr>
          <p:nvPr/>
        </p:nvPicPr>
        <p:blipFill>
          <a:blip r:embed="rId2"/>
          <a:stretch>
            <a:fillRect/>
          </a:stretch>
        </p:blipFill>
        <p:spPr>
          <a:xfrm>
            <a:off x="5867400" y="2574099"/>
            <a:ext cx="4319587" cy="3176582"/>
          </a:xfrm>
          <a:prstGeom prst="rect">
            <a:avLst/>
          </a:prstGeom>
        </p:spPr>
      </p:pic>
      <p:pic>
        <p:nvPicPr>
          <p:cNvPr id="6" name="Picture 5"/>
          <p:cNvPicPr>
            <a:picLocks noChangeAspect="1"/>
          </p:cNvPicPr>
          <p:nvPr/>
        </p:nvPicPr>
        <p:blipFill>
          <a:blip r:embed="rId3"/>
          <a:stretch>
            <a:fillRect/>
          </a:stretch>
        </p:blipFill>
        <p:spPr>
          <a:xfrm>
            <a:off x="704849" y="2574099"/>
            <a:ext cx="3488327" cy="3176582"/>
          </a:xfrm>
          <a:prstGeom prst="rect">
            <a:avLst/>
          </a:prstGeom>
        </p:spPr>
      </p:pic>
    </p:spTree>
    <p:extLst>
      <p:ext uri="{BB962C8B-B14F-4D97-AF65-F5344CB8AC3E}">
        <p14:creationId xmlns:p14="http://schemas.microsoft.com/office/powerpoint/2010/main" val="2288968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04850" y="596384"/>
            <a:ext cx="4420245" cy="584775"/>
          </a:xfrm>
          <a:prstGeom prst="rect">
            <a:avLst/>
          </a:prstGeom>
        </p:spPr>
        <p:txBody>
          <a:bodyPr wrap="square">
            <a:spAutoFit/>
          </a:bodyPr>
          <a:lstStyle/>
          <a:p>
            <a:r>
              <a:rPr lang="en-US" sz="3200" b="1" dirty="0">
                <a:solidFill>
                  <a:schemeClr val="accent2"/>
                </a:solidFill>
              </a:rPr>
              <a:t>Data Preprocessing</a:t>
            </a:r>
          </a:p>
        </p:txBody>
      </p:sp>
      <p:sp>
        <p:nvSpPr>
          <p:cNvPr id="2" name="Rectangle 1"/>
          <p:cNvSpPr>
            <a:spLocks noChangeArrowheads="1"/>
          </p:cNvSpPr>
          <p:nvPr/>
        </p:nvSpPr>
        <p:spPr bwMode="auto">
          <a:xfrm>
            <a:off x="533400" y="1137762"/>
            <a:ext cx="603885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accent2"/>
                </a:solidFill>
                <a:effectLst/>
                <a:latin typeface="Arial" panose="020B0604020202020204" pitchFamily="34" charset="0"/>
              </a:rPr>
              <a:t>Feature scaling </a:t>
            </a:r>
            <a:r>
              <a:rPr kumimoji="0" lang="en-US" altLang="en-US" sz="2000" b="0" i="0" u="none" strike="noStrike" cap="none" normalizeH="0" baseline="0" dirty="0" smtClean="0">
                <a:ln>
                  <a:noFill/>
                </a:ln>
                <a:solidFill>
                  <a:schemeClr val="tx1"/>
                </a:solidFill>
                <a:effectLst/>
                <a:latin typeface="Arial" panose="020B0604020202020204" pitchFamily="34" charset="0"/>
              </a:rPr>
              <a:t>(Standard Scaler)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accent2"/>
                </a:solidFill>
                <a:effectLst/>
                <a:latin typeface="Arial" panose="020B0604020202020204" pitchFamily="34" charset="0"/>
              </a:rPr>
              <a:t>Handling imbalance </a:t>
            </a:r>
            <a:r>
              <a:rPr kumimoji="0" lang="en-US" altLang="en-US" sz="2000" b="0" i="0" u="none" strike="noStrike" cap="none" normalizeH="0" baseline="0" dirty="0" smtClean="0">
                <a:ln>
                  <a:noFill/>
                </a:ln>
                <a:solidFill>
                  <a:schemeClr val="tx1"/>
                </a:solidFill>
                <a:effectLst/>
                <a:latin typeface="Arial" panose="020B0604020202020204" pitchFamily="34" charset="0"/>
              </a:rPr>
              <a:t>(SMOTE / under sampling)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accent2"/>
                </a:solidFill>
                <a:effectLst/>
                <a:latin typeface="Arial" panose="020B0604020202020204" pitchFamily="34" charset="0"/>
              </a:rPr>
              <a:t>Feature engineering </a:t>
            </a:r>
            <a:r>
              <a:rPr kumimoji="0" lang="en-US" altLang="en-US" sz="2000" b="0" i="0" u="none" strike="noStrike" cap="none" normalizeH="0" baseline="0" dirty="0" smtClean="0">
                <a:ln>
                  <a:noFill/>
                </a:ln>
                <a:solidFill>
                  <a:schemeClr val="tx1"/>
                </a:solidFill>
                <a:effectLst/>
                <a:latin typeface="Arial" panose="020B0604020202020204" pitchFamily="34" charset="0"/>
              </a:rPr>
              <a:t>for improved model accuracy</a:t>
            </a:r>
          </a:p>
        </p:txBody>
      </p:sp>
      <p:pic>
        <p:nvPicPr>
          <p:cNvPr id="7" name="Picture 6"/>
          <p:cNvPicPr>
            <a:picLocks noChangeAspect="1"/>
          </p:cNvPicPr>
          <p:nvPr/>
        </p:nvPicPr>
        <p:blipFill>
          <a:blip r:embed="rId2"/>
          <a:stretch>
            <a:fillRect/>
          </a:stretch>
        </p:blipFill>
        <p:spPr>
          <a:xfrm>
            <a:off x="704850" y="2574099"/>
            <a:ext cx="4048125" cy="3176582"/>
          </a:xfrm>
          <a:prstGeom prst="rect">
            <a:avLst/>
          </a:prstGeom>
        </p:spPr>
      </p:pic>
      <p:pic>
        <p:nvPicPr>
          <p:cNvPr id="8" name="Picture 7"/>
          <p:cNvPicPr>
            <a:picLocks noChangeAspect="1"/>
          </p:cNvPicPr>
          <p:nvPr/>
        </p:nvPicPr>
        <p:blipFill>
          <a:blip r:embed="rId3"/>
          <a:stretch>
            <a:fillRect/>
          </a:stretch>
        </p:blipFill>
        <p:spPr>
          <a:xfrm>
            <a:off x="5660753" y="2574099"/>
            <a:ext cx="3963700" cy="3176582"/>
          </a:xfrm>
          <a:prstGeom prst="rect">
            <a:avLst/>
          </a:prstGeom>
        </p:spPr>
      </p:pic>
    </p:spTree>
    <p:extLst>
      <p:ext uri="{BB962C8B-B14F-4D97-AF65-F5344CB8AC3E}">
        <p14:creationId xmlns:p14="http://schemas.microsoft.com/office/powerpoint/2010/main" val="3259457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04850" y="596384"/>
            <a:ext cx="4420245" cy="584775"/>
          </a:xfrm>
          <a:prstGeom prst="rect">
            <a:avLst/>
          </a:prstGeom>
        </p:spPr>
        <p:txBody>
          <a:bodyPr wrap="square">
            <a:spAutoFit/>
          </a:bodyPr>
          <a:lstStyle/>
          <a:p>
            <a:r>
              <a:rPr lang="en-US" sz="3200" b="1" dirty="0">
                <a:solidFill>
                  <a:schemeClr val="accent2"/>
                </a:solidFill>
              </a:rPr>
              <a:t>Model Development</a:t>
            </a:r>
          </a:p>
        </p:txBody>
      </p:sp>
      <p:sp>
        <p:nvSpPr>
          <p:cNvPr id="2" name="Rectangle 1"/>
          <p:cNvSpPr>
            <a:spLocks noChangeArrowheads="1"/>
          </p:cNvSpPr>
          <p:nvPr/>
        </p:nvSpPr>
        <p:spPr bwMode="auto">
          <a:xfrm>
            <a:off x="381000" y="1233041"/>
            <a:ext cx="85344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accent2"/>
                </a:solidFill>
                <a:effectLst/>
                <a:latin typeface="Arial" panose="020B0604020202020204" pitchFamily="34" charset="0"/>
              </a:rPr>
              <a:t>Algorithm</a:t>
            </a:r>
            <a:r>
              <a:rPr kumimoji="0" lang="en-US" altLang="en-US" sz="2000" b="0" i="0" u="none" strike="noStrike" cap="none" normalizeH="0" baseline="0" dirty="0" smtClean="0">
                <a:ln>
                  <a:noFill/>
                </a:ln>
                <a:solidFill>
                  <a:schemeClr val="tx1"/>
                </a:solidFill>
                <a:effectLst/>
                <a:latin typeface="Arial" panose="020B0604020202020204" pitchFamily="34" charset="0"/>
              </a:rPr>
              <a:t>:</a:t>
            </a:r>
            <a:r>
              <a:rPr kumimoji="0" lang="en-US" altLang="en-US" sz="2000" b="0" i="0" u="none" strike="noStrike" cap="none" normalizeH="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smtClean="0">
                <a:ln>
                  <a:noFill/>
                </a:ln>
                <a:solidFill>
                  <a:schemeClr val="tx1"/>
                </a:solidFill>
                <a:effectLst/>
                <a:latin typeface="Arial" panose="020B0604020202020204" pitchFamily="34" charset="0"/>
              </a:rPr>
              <a:t>Logistic Regression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accent2"/>
                </a:solidFill>
                <a:effectLst/>
                <a:latin typeface="Arial" panose="020B0604020202020204" pitchFamily="34" charset="0"/>
              </a:rPr>
              <a:t>Training: </a:t>
            </a:r>
            <a:r>
              <a:rPr kumimoji="0" lang="en-US" altLang="en-US" sz="2000" b="0" i="0" u="none" strike="noStrike" cap="none" normalizeH="0" baseline="0" dirty="0" smtClean="0">
                <a:ln>
                  <a:noFill/>
                </a:ln>
                <a:solidFill>
                  <a:schemeClr val="tx1"/>
                </a:solidFill>
                <a:effectLst/>
                <a:latin typeface="Arial" panose="020B0604020202020204" pitchFamily="34" charset="0"/>
              </a:rPr>
              <a:t>Split into train/test sets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accent2"/>
                </a:solidFill>
                <a:effectLst/>
                <a:latin typeface="Arial" panose="020B0604020202020204" pitchFamily="34" charset="0"/>
              </a:rPr>
              <a:t>Evaluation metrics: </a:t>
            </a:r>
            <a:r>
              <a:rPr kumimoji="0" lang="en-US" altLang="en-US" sz="2000" b="0" i="0" u="none" strike="noStrike" cap="none" normalizeH="0" baseline="0" dirty="0" smtClean="0">
                <a:ln>
                  <a:noFill/>
                </a:ln>
                <a:solidFill>
                  <a:schemeClr val="tx1"/>
                </a:solidFill>
                <a:effectLst/>
                <a:latin typeface="Arial" panose="020B0604020202020204" pitchFamily="34" charset="0"/>
              </a:rPr>
              <a:t>Accuracy, Precision, Recall, F1‑Score, ROC‑AUC</a:t>
            </a:r>
          </a:p>
        </p:txBody>
      </p:sp>
      <p:pic>
        <p:nvPicPr>
          <p:cNvPr id="7" name="Picture 6"/>
          <p:cNvPicPr>
            <a:picLocks noChangeAspect="1"/>
          </p:cNvPicPr>
          <p:nvPr/>
        </p:nvPicPr>
        <p:blipFill>
          <a:blip r:embed="rId2"/>
          <a:stretch>
            <a:fillRect/>
          </a:stretch>
        </p:blipFill>
        <p:spPr>
          <a:xfrm>
            <a:off x="6096000" y="2574099"/>
            <a:ext cx="5429250" cy="3159448"/>
          </a:xfrm>
          <a:prstGeom prst="rect">
            <a:avLst/>
          </a:prstGeom>
        </p:spPr>
      </p:pic>
      <p:sp>
        <p:nvSpPr>
          <p:cNvPr id="8" name="Rectangle 7"/>
          <p:cNvSpPr/>
          <p:nvPr/>
        </p:nvSpPr>
        <p:spPr>
          <a:xfrm>
            <a:off x="704850" y="2368034"/>
            <a:ext cx="4420245" cy="584775"/>
          </a:xfrm>
          <a:prstGeom prst="rect">
            <a:avLst/>
          </a:prstGeom>
        </p:spPr>
        <p:txBody>
          <a:bodyPr wrap="square">
            <a:spAutoFit/>
          </a:bodyPr>
          <a:lstStyle/>
          <a:p>
            <a:r>
              <a:rPr lang="en-US" sz="3200" b="1" dirty="0" smtClean="0">
                <a:solidFill>
                  <a:schemeClr val="accent2"/>
                </a:solidFill>
              </a:rPr>
              <a:t>Results</a:t>
            </a:r>
            <a:endParaRPr lang="en-US" sz="3200" b="1" dirty="0">
              <a:solidFill>
                <a:schemeClr val="accent2"/>
              </a:solidFill>
            </a:endParaRPr>
          </a:p>
        </p:txBody>
      </p:sp>
      <p:sp>
        <p:nvSpPr>
          <p:cNvPr id="9" name="Rectangle 8"/>
          <p:cNvSpPr/>
          <p:nvPr/>
        </p:nvSpPr>
        <p:spPr>
          <a:xfrm>
            <a:off x="585568" y="3091934"/>
            <a:ext cx="2638864" cy="369332"/>
          </a:xfrm>
          <a:prstGeom prst="rect">
            <a:avLst/>
          </a:prstGeom>
        </p:spPr>
        <p:txBody>
          <a:bodyPr wrap="none">
            <a:spAutoFit/>
          </a:bodyPr>
          <a:lstStyle/>
          <a:p>
            <a:r>
              <a:rPr lang="en-US" dirty="0">
                <a:solidFill>
                  <a:schemeClr val="accent2"/>
                </a:solidFill>
              </a:rPr>
              <a:t>Image: </a:t>
            </a:r>
            <a:r>
              <a:rPr lang="en-US" dirty="0"/>
              <a:t>ROC curve chart</a:t>
            </a:r>
          </a:p>
        </p:txBody>
      </p:sp>
      <p:sp>
        <p:nvSpPr>
          <p:cNvPr id="10" name="Rectangle 2"/>
          <p:cNvSpPr>
            <a:spLocks noChangeArrowheads="1"/>
          </p:cNvSpPr>
          <p:nvPr/>
        </p:nvSpPr>
        <p:spPr bwMode="auto">
          <a:xfrm>
            <a:off x="381000" y="3576935"/>
            <a:ext cx="542007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latin typeface="Arial" panose="020B0604020202020204" pitchFamily="34" charset="0"/>
              </a:rPr>
              <a:t>Strong baseline performance despite imbalance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latin typeface="Arial" panose="020B0604020202020204" pitchFamily="34" charset="0"/>
              </a:rPr>
              <a:t>High precision and recall for fraud detection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latin typeface="Arial" panose="020B0604020202020204" pitchFamily="34" charset="0"/>
              </a:rPr>
              <a:t>ROC‑AUC curve shows robust classification ability</a:t>
            </a:r>
          </a:p>
        </p:txBody>
      </p:sp>
    </p:spTree>
    <p:extLst>
      <p:ext uri="{BB962C8B-B14F-4D97-AF65-F5344CB8AC3E}">
        <p14:creationId xmlns:p14="http://schemas.microsoft.com/office/powerpoint/2010/main" val="6390973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04850" y="596384"/>
            <a:ext cx="4420245" cy="584775"/>
          </a:xfrm>
          <a:prstGeom prst="rect">
            <a:avLst/>
          </a:prstGeom>
        </p:spPr>
        <p:txBody>
          <a:bodyPr wrap="square">
            <a:spAutoFit/>
          </a:bodyPr>
          <a:lstStyle/>
          <a:p>
            <a:r>
              <a:rPr lang="en-US" sz="3200" b="1" dirty="0">
                <a:solidFill>
                  <a:schemeClr val="accent2"/>
                </a:solidFill>
              </a:rPr>
              <a:t>Future Scope</a:t>
            </a:r>
          </a:p>
        </p:txBody>
      </p:sp>
      <p:sp>
        <p:nvSpPr>
          <p:cNvPr id="2" name="Rectangle 1"/>
          <p:cNvSpPr>
            <a:spLocks noChangeArrowheads="1"/>
          </p:cNvSpPr>
          <p:nvPr/>
        </p:nvSpPr>
        <p:spPr bwMode="auto">
          <a:xfrm>
            <a:off x="476250" y="1244769"/>
            <a:ext cx="7085594"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Compare with </a:t>
            </a:r>
            <a:r>
              <a:rPr kumimoji="0" lang="en-US" altLang="en-US" sz="2000" b="1" i="0" u="none" strike="noStrike" cap="none" normalizeH="0" baseline="0" dirty="0" smtClean="0">
                <a:ln>
                  <a:noFill/>
                </a:ln>
                <a:solidFill>
                  <a:schemeClr val="tx1"/>
                </a:solidFill>
                <a:effectLst/>
                <a:latin typeface="Arial" panose="020B0604020202020204" pitchFamily="34" charset="0"/>
              </a:rPr>
              <a:t>Random Forest</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1" i="0" u="none" strike="noStrike" cap="none" normalizeH="0" baseline="0" dirty="0" smtClean="0">
                <a:ln>
                  <a:noFill/>
                </a:ln>
                <a:solidFill>
                  <a:schemeClr val="tx1"/>
                </a:solidFill>
                <a:effectLst/>
                <a:latin typeface="Arial" panose="020B0604020202020204" pitchFamily="34" charset="0"/>
              </a:rPr>
              <a:t>XGBoost</a:t>
            </a:r>
            <a:r>
              <a:rPr kumimoji="0" lang="en-US" altLang="en-US" sz="2000" b="0" i="0" u="none" strike="noStrike" cap="none" normalizeH="0" baseline="0" dirty="0" smtClean="0">
                <a:ln>
                  <a:noFill/>
                </a:ln>
                <a:solidFill>
                  <a:schemeClr val="tx1"/>
                </a:solidFill>
                <a:effectLst/>
                <a:latin typeface="Arial" panose="020B0604020202020204" pitchFamily="34" charset="0"/>
              </a:rPr>
              <a:t>, Neural Networks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Optimize threshold tuning and feature selection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Deploy for </a:t>
            </a:r>
            <a:r>
              <a:rPr kumimoji="0" lang="en-US" altLang="en-US" sz="2000" b="1" i="0" u="none" strike="noStrike" cap="none" normalizeH="0" baseline="0" dirty="0" smtClean="0">
                <a:ln>
                  <a:noFill/>
                </a:ln>
                <a:solidFill>
                  <a:schemeClr val="tx1"/>
                </a:solidFill>
                <a:effectLst/>
                <a:latin typeface="Arial" panose="020B0604020202020204" pitchFamily="34" charset="0"/>
              </a:rPr>
              <a:t>real‑time fraud monitoring</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p:txBody>
      </p:sp>
      <p:pic>
        <p:nvPicPr>
          <p:cNvPr id="7" name="Picture 6"/>
          <p:cNvPicPr>
            <a:picLocks noChangeAspect="1"/>
          </p:cNvPicPr>
          <p:nvPr/>
        </p:nvPicPr>
        <p:blipFill>
          <a:blip r:embed="rId2"/>
          <a:stretch>
            <a:fillRect/>
          </a:stretch>
        </p:blipFill>
        <p:spPr>
          <a:xfrm>
            <a:off x="4909131" y="2633662"/>
            <a:ext cx="5305425" cy="2924175"/>
          </a:xfrm>
          <a:prstGeom prst="rect">
            <a:avLst/>
          </a:prstGeom>
        </p:spPr>
      </p:pic>
    </p:spTree>
    <p:extLst>
      <p:ext uri="{BB962C8B-B14F-4D97-AF65-F5344CB8AC3E}">
        <p14:creationId xmlns:p14="http://schemas.microsoft.com/office/powerpoint/2010/main" val="1130920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2332" y="253484"/>
            <a:ext cx="4431021" cy="369332"/>
          </a:xfrm>
          <a:prstGeom prst="rect">
            <a:avLst/>
          </a:prstGeom>
        </p:spPr>
        <p:txBody>
          <a:bodyPr wrap="none">
            <a:spAutoFit/>
          </a:bodyPr>
          <a:lstStyle/>
          <a:p>
            <a:r>
              <a:rPr lang="en-US" u="sng" dirty="0" smtClean="0">
                <a:solidFill>
                  <a:schemeClr val="accent2"/>
                </a:solidFill>
              </a:rPr>
              <a:t>Conclusion </a:t>
            </a:r>
            <a:r>
              <a:rPr lang="en-US" u="sng" dirty="0">
                <a:solidFill>
                  <a:schemeClr val="accent2"/>
                </a:solidFill>
              </a:rPr>
              <a:t>– Credit Card Fraud Detection</a:t>
            </a:r>
          </a:p>
        </p:txBody>
      </p:sp>
      <p:sp>
        <p:nvSpPr>
          <p:cNvPr id="3" name="Rectangle 2"/>
          <p:cNvSpPr/>
          <p:nvPr/>
        </p:nvSpPr>
        <p:spPr>
          <a:xfrm>
            <a:off x="419100" y="718067"/>
            <a:ext cx="9315450" cy="2308324"/>
          </a:xfrm>
          <a:prstGeom prst="rect">
            <a:avLst/>
          </a:prstGeom>
        </p:spPr>
        <p:txBody>
          <a:bodyPr wrap="square">
            <a:spAutoFit/>
          </a:bodyPr>
          <a:lstStyle/>
          <a:p>
            <a:r>
              <a:rPr lang="en-US" sz="1600" dirty="0"/>
              <a:t>This project developed a Credit Card Fraud Detection system using Logistic Regression. The dataset was cleaned, explored through exploratory data analysis, and preprocessed using feature scaling and feature engineering. Logistic Regression was selected due to its effectiveness for binary classification</a:t>
            </a:r>
            <a:r>
              <a:rPr lang="en-US" sz="1600" dirty="0" smtClean="0"/>
              <a:t>. The </a:t>
            </a:r>
            <a:r>
              <a:rPr lang="en-US" sz="1600" dirty="0"/>
              <a:t>model was evaluated using Accuracy, Precision, Recall, F1-score, ROC-AUC, and the Confusion Matrix. The results demonstrate that Logistic Regression is capable of accurately identifying fraudulent transactions while maintaining a low false positive rate. Although fraud detection remains challenging because of severe class imbalance, the model provides a reliable baseline that can support financial institutions in detecting suspicious transactions and reducing fraud-related losses.</a:t>
            </a:r>
          </a:p>
        </p:txBody>
      </p:sp>
      <p:pic>
        <p:nvPicPr>
          <p:cNvPr id="4" name="Picture 3"/>
          <p:cNvPicPr>
            <a:picLocks noChangeAspect="1"/>
          </p:cNvPicPr>
          <p:nvPr/>
        </p:nvPicPr>
        <p:blipFill>
          <a:blip r:embed="rId2"/>
          <a:stretch>
            <a:fillRect/>
          </a:stretch>
        </p:blipFill>
        <p:spPr>
          <a:xfrm>
            <a:off x="4376737" y="3026391"/>
            <a:ext cx="4805363" cy="3332550"/>
          </a:xfrm>
          <a:prstGeom prst="rect">
            <a:avLst/>
          </a:prstGeom>
        </p:spPr>
      </p:pic>
    </p:spTree>
    <p:extLst>
      <p:ext uri="{BB962C8B-B14F-4D97-AF65-F5344CB8AC3E}">
        <p14:creationId xmlns:p14="http://schemas.microsoft.com/office/powerpoint/2010/main" val="235387665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10165</TotalTime>
  <Words>282</Words>
  <Application>Microsoft Office PowerPoint</Application>
  <PresentationFormat>Widescreen</PresentationFormat>
  <Paragraphs>29</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Trebuchet MS</vt:lpstr>
      <vt:lpstr>Wingdings 3</vt:lpstr>
      <vt:lpstr>Facet</vt:lpstr>
      <vt:lpstr>Imarticus – Capstone Project</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Imarticus – Capstone Project</dc:title>
  <dc:creator>Poornimma Devi</dc:creator>
  <cp:lastModifiedBy>Poornimma Devi</cp:lastModifiedBy>
  <cp:revision>7</cp:revision>
  <dcterms:created xsi:type="dcterms:W3CDTF">2026-07-07T23:51:31Z</dcterms:created>
  <dcterms:modified xsi:type="dcterms:W3CDTF">2026-07-15T01:17:51Z</dcterms:modified>
</cp:coreProperties>
</file>